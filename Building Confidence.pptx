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embeddedFontLs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Lato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cf0059a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cf0059a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fa58d81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fa58d81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2ccc6273c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2ccc6273c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fcf0059a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fcf0059a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fcf0059a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fcf0059a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cf0059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fcf0059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df755248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df755248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fa58d81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fa58d81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Activity: What is </a:t>
            </a:r>
            <a:r>
              <a:rPr lang="en"/>
              <a:t>one thing you are had trouble with your curriculum project? Type it into the chat! Observe how you talked about that thing. Now, reframe it confidently. Contemplate why that matters.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c90dbdc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c90dbdc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on that new tech issue or ticket with the audacity and gall to be better for doing so. For impressing yourself.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c90dbdc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c90dbdc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 a stated “hmmm” and articulating a moment to think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fcf0059a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fcf0059a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c90dbdc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c90dbdc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c90dbdc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c90dbdc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c90dbdc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c90dbdc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c90dbdc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c90dbdc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c90dbdc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c90dbdc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c90dbdc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c90dbdc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2b045fc2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2b045fc2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hyperlink" Target="https://www.thriveglobal.com/stories/26490-these-5-things-will-give-you-the-confidence-to-accomplish-anything" TargetMode="External"/><Relationship Id="rId5" Type="http://schemas.openxmlformats.org/officeDocument/2006/relationships/hyperlink" Target="https://www.ted.com/talks/amy_cuddy_your_body_language_shapes_who_you_are" TargetMode="External"/><Relationship Id="rId6" Type="http://schemas.openxmlformats.org/officeDocument/2006/relationships/hyperlink" Target="https://www.theatlantic.com/magazine/archive/2014/05/the-confidence-gap/359815/" TargetMode="External"/><Relationship Id="rId7" Type="http://schemas.openxmlformats.org/officeDocument/2006/relationships/hyperlink" Target="https://chrome.google.com/webstore/detail/rosie/hdlcmlhedjiljdeaijfbpdigffccgcbc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Confidence</a:t>
            </a:r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258600" y="1017725"/>
            <a:ext cx="8686500" cy="3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Poised, balanced, breathing easily, purposeful movement, can deal with anything, can laugh at yourself, knowing it will be okay eventually. 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0750" y="2414713"/>
            <a:ext cx="476250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Self-awareness: what are you good at</a:t>
            </a:r>
            <a:r>
              <a:rPr lang="en"/>
              <a:t>?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hurt confidence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fall.png"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4900" y="1170125"/>
            <a:ext cx="4494200" cy="337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hurt confidence?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258600" y="1017725"/>
            <a:ext cx="8686500" cy="3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</a:pPr>
            <a:r>
              <a:rPr lang="en" sz="2400">
                <a:solidFill>
                  <a:srgbClr val="2222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Taking on too much work.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Lato"/>
              <a:buChar char="●"/>
            </a:pPr>
            <a:r>
              <a:rPr lang="en" sz="2400">
                <a:solidFill>
                  <a:srgbClr val="2222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Belittling leaders.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to ask yourself and others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228750" y="1210175"/>
            <a:ext cx="8686500" cy="3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</a:pPr>
            <a:r>
              <a:rPr lang="en" sz="2400">
                <a:solidFill>
                  <a:srgbClr val="2222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What am I good at?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Lato"/>
              <a:buChar char="●"/>
            </a:pPr>
            <a:r>
              <a:rPr lang="en" sz="2400">
                <a:solidFill>
                  <a:srgbClr val="2222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When have you seen me at my best?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Lato"/>
              <a:buChar char="●"/>
            </a:pPr>
            <a:r>
              <a:rPr lang="en" sz="2400">
                <a:solidFill>
                  <a:srgbClr val="2222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What should I do more of?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Lato"/>
              <a:buChar char="●"/>
            </a:pPr>
            <a:r>
              <a:rPr lang="en" sz="2400">
                <a:solidFill>
                  <a:srgbClr val="2222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What should I do less of?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Lato"/>
              <a:buChar char="●"/>
            </a:pPr>
            <a:r>
              <a:rPr lang="en" sz="2400">
                <a:solidFill>
                  <a:srgbClr val="2222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Where do you think I can stretch?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chemeClr val="lt1"/>
                </a:highlight>
              </a:rPr>
              <a:t>What is the next thing you need big confidence for?</a:t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228750" y="2068325"/>
            <a:ext cx="8686500" cy="2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222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Visualize:</a:t>
            </a:r>
            <a:endParaRPr b="1" sz="240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Lato"/>
              <a:buChar char="●"/>
            </a:pPr>
            <a:r>
              <a:rPr b="1" lang="en" sz="2400">
                <a:solidFill>
                  <a:srgbClr val="2222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Where? Who? What skills?</a:t>
            </a:r>
            <a:endParaRPr b="1" sz="240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Lato"/>
              <a:buChar char="●"/>
            </a:pPr>
            <a:r>
              <a:rPr b="1" lang="en" sz="2400">
                <a:solidFill>
                  <a:srgbClr val="2222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Which thoughts/feelings?</a:t>
            </a:r>
            <a:endParaRPr b="1" sz="240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Lato"/>
              <a:buChar char="●"/>
            </a:pPr>
            <a:r>
              <a:rPr b="1" lang="en" sz="2400">
                <a:solidFill>
                  <a:srgbClr val="2222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Why is confidence important here?</a:t>
            </a:r>
            <a:endParaRPr b="1" sz="240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Lato"/>
              <a:buChar char="●"/>
            </a:pPr>
            <a:r>
              <a:rPr b="1" lang="en" sz="2400">
                <a:solidFill>
                  <a:srgbClr val="2222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If you couldn’t fail, what would you do?</a:t>
            </a:r>
            <a:endParaRPr b="1" sz="240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228750" y="1311575"/>
            <a:ext cx="8686500" cy="756600"/>
          </a:xfrm>
          <a:prstGeom prst="rect">
            <a:avLst/>
          </a:prstGeom>
          <a:noFill/>
          <a:ln cap="flat" cmpd="sng" w="19050">
            <a:solidFill>
              <a:srgbClr val="0093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93B5"/>
                </a:solidFill>
                <a:latin typeface="Lato"/>
                <a:ea typeface="Lato"/>
                <a:cs typeface="Lato"/>
                <a:sym typeface="Lato"/>
              </a:rPr>
              <a:t>While there is value in the items on the right, there is </a:t>
            </a:r>
            <a:r>
              <a:rPr b="1" lang="en" sz="24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more</a:t>
            </a:r>
            <a:r>
              <a:rPr b="1" lang="en" sz="2400">
                <a:solidFill>
                  <a:srgbClr val="0093B5"/>
                </a:solidFill>
                <a:latin typeface="Lato"/>
                <a:ea typeface="Lato"/>
                <a:cs typeface="Lato"/>
                <a:sym typeface="Lato"/>
              </a:rPr>
              <a:t> value in the items on the left</a:t>
            </a:r>
            <a:endParaRPr b="1" sz="2400">
              <a:solidFill>
                <a:srgbClr val="0093B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chemeClr val="lt1"/>
                </a:highlight>
              </a:rPr>
              <a:t>What is the next thing you need big confidence for?</a:t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/>
          <p:nvPr/>
        </p:nvSpPr>
        <p:spPr>
          <a:xfrm>
            <a:off x="1398450" y="1529050"/>
            <a:ext cx="6347100" cy="2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222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Visualize:</a:t>
            </a:r>
            <a:endParaRPr b="1" sz="240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Lato"/>
              <a:buChar char="●"/>
            </a:pPr>
            <a:r>
              <a:rPr b="1" lang="en" sz="2400">
                <a:solidFill>
                  <a:srgbClr val="2222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Where? Who? What skills?</a:t>
            </a:r>
            <a:endParaRPr b="1" sz="240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Lato"/>
              <a:buChar char="●"/>
            </a:pPr>
            <a:r>
              <a:rPr b="1" lang="en" sz="2400">
                <a:solidFill>
                  <a:srgbClr val="2222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Which thoughts/feelings?</a:t>
            </a:r>
            <a:endParaRPr b="1" sz="240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Lato"/>
              <a:buChar char="●"/>
            </a:pPr>
            <a:r>
              <a:rPr b="1" lang="en" sz="2400">
                <a:solidFill>
                  <a:srgbClr val="2222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Why is confidence important here?</a:t>
            </a:r>
            <a:endParaRPr b="1" sz="240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Lato"/>
              <a:buChar char="●"/>
            </a:pPr>
            <a:r>
              <a:rPr b="1" lang="en" sz="2400">
                <a:solidFill>
                  <a:srgbClr val="2222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If you couldn’t fail, what would you do?</a:t>
            </a:r>
            <a:endParaRPr b="1" sz="240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1"/>
          <p:cNvSpPr txBox="1"/>
          <p:nvPr/>
        </p:nvSpPr>
        <p:spPr>
          <a:xfrm>
            <a:off x="244325" y="1015850"/>
            <a:ext cx="8700600" cy="3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23" name="Google Shape;123;p21"/>
          <p:cNvPicPr preferRelativeResize="0"/>
          <p:nvPr/>
        </p:nvPicPr>
        <p:blipFill rotWithShape="1">
          <a:blip r:embed="rId4">
            <a:alphaModFix/>
          </a:blip>
          <a:srcRect b="39139" l="12427" r="14856" t="31459"/>
          <a:stretch/>
        </p:blipFill>
        <p:spPr>
          <a:xfrm>
            <a:off x="2114488" y="1292625"/>
            <a:ext cx="4960279" cy="26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 even though you’re scared</a:t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2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 txBox="1"/>
          <p:nvPr/>
        </p:nvSpPr>
        <p:spPr>
          <a:xfrm>
            <a:off x="244325" y="1015850"/>
            <a:ext cx="8700600" cy="3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Replace weak filler words with stronger filler words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3"/>
          <p:cNvSpPr txBox="1"/>
          <p:nvPr/>
        </p:nvSpPr>
        <p:spPr>
          <a:xfrm>
            <a:off x="244325" y="1015850"/>
            <a:ext cx="8700600" cy="3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40" name="Google Shape;140;p23"/>
          <p:cNvSpPr txBox="1"/>
          <p:nvPr>
            <p:ph type="title"/>
          </p:nvPr>
        </p:nvSpPr>
        <p:spPr>
          <a:xfrm>
            <a:off x="424325" y="1440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“Like,” “um,” “and uh”</a:t>
            </a:r>
            <a:endParaRPr/>
          </a:p>
        </p:txBody>
      </p:sp>
      <p:sp>
        <p:nvSpPr>
          <p:cNvPr id="141" name="Google Shape;141;p23"/>
          <p:cNvSpPr txBox="1"/>
          <p:nvPr>
            <p:ph type="title"/>
          </p:nvPr>
        </p:nvSpPr>
        <p:spPr>
          <a:xfrm>
            <a:off x="334325" y="3471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“You see,” “Now,” “However”</a:t>
            </a:r>
            <a:endParaRPr/>
          </a:p>
        </p:txBody>
      </p:sp>
      <p:sp>
        <p:nvSpPr>
          <p:cNvPr id="142" name="Google Shape;142;p23"/>
          <p:cNvSpPr/>
          <p:nvPr/>
        </p:nvSpPr>
        <p:spPr>
          <a:xfrm>
            <a:off x="4315925" y="2238600"/>
            <a:ext cx="302400" cy="1149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311700" y="445025"/>
            <a:ext cx="8520600" cy="8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the troll’s on your back, ask, “What am I choosing to do about it?</a:t>
            </a:r>
            <a:endParaRPr/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311700" y="445025"/>
            <a:ext cx="8520600" cy="13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Don’t pick apart every mistake or foolish thing you’ve done. Laugh at them and realize life isn’t always a “repair job” of everything you did wrong</a:t>
            </a:r>
            <a:endParaRPr/>
          </a:p>
        </p:txBody>
      </p:sp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5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311700" y="445025"/>
            <a:ext cx="8520600" cy="9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You haven’t (yet) become what you thought you would. That’s OK. Accept it and make a difference.</a:t>
            </a:r>
            <a:endParaRPr/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6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445025"/>
            <a:ext cx="8520600" cy="9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Surround yourself with one inspirational story every day</a:t>
            </a:r>
            <a:endParaRPr/>
          </a:p>
        </p:txBody>
      </p:sp>
      <p:pic>
        <p:nvPicPr>
          <p:cNvPr id="169" name="Google Shape;1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7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Keep a Mental Journal</a:t>
            </a:r>
            <a:endParaRPr/>
          </a:p>
        </p:txBody>
      </p:sp>
      <p:pic>
        <p:nvPicPr>
          <p:cNvPr id="176" name="Google Shape;17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8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Plan to Celebrate. Celebrate Your Wins</a:t>
            </a:r>
            <a:endParaRPr/>
          </a:p>
        </p:txBody>
      </p:sp>
      <p:pic>
        <p:nvPicPr>
          <p:cNvPr id="183" name="Google Shape;1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9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Bernice Moore’s Theory</a:t>
            </a:r>
            <a:br>
              <a:rPr lang="en"/>
            </a:br>
            <a:br>
              <a:rPr lang="en"/>
            </a:br>
            <a:endParaRPr/>
          </a:p>
        </p:txBody>
      </p:sp>
      <p:pic>
        <p:nvPicPr>
          <p:cNvPr id="190" name="Google Shape;1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0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0"/>
          <p:cNvSpPr txBox="1"/>
          <p:nvPr>
            <p:ph type="title"/>
          </p:nvPr>
        </p:nvSpPr>
        <p:spPr>
          <a:xfrm>
            <a:off x="351350" y="1429350"/>
            <a:ext cx="8520600" cy="22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Improve your competencies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Put them into practice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See results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Grow more confident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Repeat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Resources</a:t>
            </a:r>
            <a:endParaRPr/>
          </a:p>
        </p:txBody>
      </p:sp>
      <p:pic>
        <p:nvPicPr>
          <p:cNvPr id="198" name="Google Shape;19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1"/>
          <p:cNvSpPr txBox="1"/>
          <p:nvPr/>
        </p:nvSpPr>
        <p:spPr>
          <a:xfrm>
            <a:off x="311700" y="1017725"/>
            <a:ext cx="8520600" cy="3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https://www.thriveglobal.com/stories/26490-these-5-things-will-give-you-the-confidence-to-accomplish-anything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https://www.ted.com/talks/amy_cuddy_your_body_language_shapes_who_you_are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6"/>
              </a:rPr>
              <a:t>https://www.theatlantic.com/magazine/archive/2014/05/the-confidence-gap/359815/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Detect under-confident language: </a:t>
            </a:r>
            <a:r>
              <a:rPr lang="en" sz="1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7"/>
              </a:rPr>
              <a:t>https://chrome.google.com/webstore/detail/rosie/hdlcmlhedjiljdeaijfbpdigffccgcbc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p31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