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6577b18f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6577b18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6577b18f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6577b18f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06577b18f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06577b18f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6577b18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6577b18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6577b18f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06577b18f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6577b18f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06577b18f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6577b18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06577b18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06577b18f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06577b18f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06577b18f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06577b18f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6577b18f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6577b18f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6577b18f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06577b18f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6577b18f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06577b18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6577b18f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06577b18f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06577b18f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06577b18f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6577b18f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06577b18f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6577b18f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06577b18f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6577b18f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06577b18f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06577b18f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06577b18f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06577b18f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06577b18f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06577b18f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06577b18f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06577b18f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06577b18f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06577b18f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06577b18f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6577b18f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06577b18f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6577b18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06577b18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SDLC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Life Cycle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435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334" y="1853850"/>
            <a:ext cx="4754124" cy="30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SDLC Is Not Linear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Phases often overlap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Feedback loops exist throughout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Agile, DevOps, and CI/CD compress multiple stages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11246" l="2110" r="6155" t="17574"/>
          <a:stretch/>
        </p:blipFill>
        <p:spPr>
          <a:xfrm>
            <a:off x="1319875" y="314038"/>
            <a:ext cx="6504251" cy="451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br>
              <a:rPr lang="en"/>
            </a:br>
            <a:r>
              <a:rPr b="0" lang="en" sz="2300"/>
              <a:t>Discovery and Ideation</a:t>
            </a:r>
            <a:endParaRPr b="0" sz="2300"/>
          </a:p>
        </p:txBody>
      </p:sp>
      <p:sp>
        <p:nvSpPr>
          <p:cNvPr id="110" name="Google Shape;110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Business problem identification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Stakeholder interviews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Market and user research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Pain-point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solution brainstorming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Problem Statement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High-level Vision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Success Criteria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the problem worth solving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r>
              <a:rPr b="0" lang="en"/>
              <a:t> </a:t>
            </a:r>
            <a:br>
              <a:rPr b="0" lang="en"/>
            </a:br>
            <a:r>
              <a:rPr b="0" lang="en" sz="1978"/>
              <a:t>Opportunity Assessment or Feasibility</a:t>
            </a:r>
            <a:endParaRPr b="0" sz="1978"/>
          </a:p>
        </p:txBody>
      </p:sp>
      <p:sp>
        <p:nvSpPr>
          <p:cNvPr id="117" name="Google Shape;117;p1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Technical feasibility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Business feasibility &amp; ROI estimation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Risk identification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 vs. buy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Feasibility Report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Cost/Benefit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Go/No-Go Decision</a:t>
            </a:r>
            <a:endParaRPr/>
          </a:p>
        </p:txBody>
      </p:sp>
      <p:sp>
        <p:nvSpPr>
          <p:cNvPr id="118" name="Google Shape;118;p1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Decide whether the idea is viable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Gathering</a:t>
            </a:r>
            <a:endParaRPr/>
          </a:p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what the users and the business need</a:t>
            </a:r>
            <a:endParaRPr/>
          </a:p>
        </p:txBody>
      </p:sp>
      <p:sp>
        <p:nvSpPr>
          <p:cNvPr id="125" name="Google Shape;125;p1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Functional requirements gathering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Non-functional requirements (security, performance, compliance)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 interviews &amp; workshops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Regulatory and policy constraints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Requirements catalog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backlog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Analysis &amp; Validation</a:t>
            </a:r>
            <a:endParaRPr/>
          </a:p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 and validate requirements</a:t>
            </a:r>
            <a:endParaRPr/>
          </a:p>
        </p:txBody>
      </p:sp>
      <p:sp>
        <p:nvSpPr>
          <p:cNvPr id="132" name="Google Shape;132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Requirements prioritization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Dependency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Acceptance criteria definition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Stakeholder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Approved requirements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Refined product backlog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and Product Titles/Roles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540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Project Manager (PM)</a:t>
            </a:r>
            <a:br>
              <a:rPr lang="en" sz="1200"/>
            </a:br>
            <a:r>
              <a:rPr lang="en" sz="1200"/>
              <a:t>Oversees the entire project, sets timelines, budgets, and resource allocation.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Business Analyst (BA)</a:t>
            </a:r>
            <a:br>
              <a:rPr lang="en" sz="1200"/>
            </a:br>
            <a:r>
              <a:rPr lang="en" sz="1200"/>
              <a:t>Gathers, analyzes, and documents functional/non-functional requirements.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Product Owner/Product Manager</a:t>
            </a:r>
            <a:br>
              <a:rPr lang="en" sz="1200"/>
            </a:br>
            <a:r>
              <a:rPr lang="en" sz="1200"/>
              <a:t>Defines product vision, sets priorities, and manages the backlog.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Systems Analyst</a:t>
            </a:r>
            <a:br>
              <a:rPr b="1" lang="en" sz="1200"/>
            </a:br>
            <a:r>
              <a:rPr lang="en" sz="1200"/>
              <a:t>Translates business needs into technical specifications and system requirements.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10794" l="0" r="0" t="0"/>
          <a:stretch/>
        </p:blipFill>
        <p:spPr>
          <a:xfrm>
            <a:off x="5983400" y="1071925"/>
            <a:ext cx="2996725" cy="38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Architecture &amp; Design</a:t>
            </a:r>
            <a:endParaRPr/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how the system will work</a:t>
            </a:r>
            <a:endParaRPr/>
          </a:p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High-level system architecture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models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Integration design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Technology stack selection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Security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Architecture diagrams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 specifications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Architecture Titles/Roles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540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Software Architect</a:t>
            </a:r>
            <a:r>
              <a:rPr lang="en"/>
              <a:t>: Defines the technical vision, high-level structure, and coding standards for applications.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Solution Architect</a:t>
            </a:r>
            <a:r>
              <a:rPr lang="en"/>
              <a:t>: Focuses on designing specific technical solutions to solve business problems, integrating multiple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Enterprise Architect</a:t>
            </a:r>
            <a:r>
              <a:rPr lang="en"/>
              <a:t>: Aligns the entire organization's IT infrastructure and long-term technology strategy with business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Technical Architect</a:t>
            </a:r>
            <a:r>
              <a:rPr lang="en"/>
              <a:t>: Concentrates on technical issues, including performance, security, and scalability within projects.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Chief Architect</a:t>
            </a:r>
            <a:r>
              <a:rPr lang="en"/>
              <a:t>: Provides leadership and strategic oversight for the entire architectural team and technical direction. </a:t>
            </a:r>
            <a:endParaRPr/>
          </a:p>
        </p:txBody>
      </p:sp>
      <p:pic>
        <p:nvPicPr>
          <p:cNvPr id="153" name="Google Shape;153;p23" title="pngegg.png"/>
          <p:cNvPicPr preferRelativeResize="0"/>
          <p:nvPr/>
        </p:nvPicPr>
        <p:blipFill rotWithShape="1">
          <a:blip r:embed="rId3">
            <a:alphaModFix/>
          </a:blip>
          <a:srcRect b="-5260" l="-2398" r="-3232" t="5260"/>
          <a:stretch/>
        </p:blipFill>
        <p:spPr>
          <a:xfrm>
            <a:off x="6200800" y="1810925"/>
            <a:ext cx="2858550" cy="30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eed"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703175" y="1350400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Specialized Architecture Roles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729450" y="2078875"/>
            <a:ext cx="540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Cloud Architect</a:t>
            </a:r>
            <a:r>
              <a:rPr lang="en"/>
              <a:t>: Manages and designs cloud-based computing strategies, infrastructure, and application deployment.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Data Architect</a:t>
            </a:r>
            <a:r>
              <a:rPr lang="en"/>
              <a:t>: Defines data models, storage structures, and policies to ensure data integrity and security.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Security Architect</a:t>
            </a:r>
            <a:r>
              <a:rPr lang="en"/>
              <a:t>: Identifies risks and designs security measures into systems to protect against threats.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System Architect</a:t>
            </a:r>
            <a:r>
              <a:rPr lang="en"/>
              <a:t>: Works on the technical design and planning of system solutions, often focused on software-hardware interaction.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Indeed"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03175" y="1350400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/ UI Design</a:t>
            </a:r>
            <a:endParaRPr/>
          </a:p>
        </p:txBody>
      </p:sp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the user experience</a:t>
            </a:r>
            <a:endParaRPr/>
          </a:p>
        </p:txBody>
      </p:sp>
      <p:sp>
        <p:nvSpPr>
          <p:cNvPr id="168" name="Google Shape;168;p2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 journey mapping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Wireframes and prototypes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Usability testing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Accessibility considerations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Wireframes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UI designs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 system components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and Design Titles/Roles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29450" y="2078875"/>
            <a:ext cx="540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Product Manager / Product Owner</a:t>
            </a:r>
            <a:br>
              <a:rPr lang="en"/>
            </a:br>
            <a:r>
              <a:rPr lang="en"/>
              <a:t>Oversees the product strategy, balancing technical system constraints with user experience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Information Architect, UX Designer</a:t>
            </a:r>
            <a:br>
              <a:rPr lang="en"/>
            </a:br>
            <a:r>
              <a:rPr lang="en"/>
              <a:t>Focuses on organizing, structuring, and labeling content to ensure usability and findability, creating sitemaps and wireframes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UI Designer / Visual Designer</a:t>
            </a:r>
            <a:br>
              <a:rPr lang="en"/>
            </a:br>
            <a:r>
              <a:rPr lang="en"/>
              <a:t>Translates the architectural wireframes into high-fidelity, polished visual interfaces.</a:t>
            </a:r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5450" y="2006250"/>
            <a:ext cx="2706150" cy="27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Estimation</a:t>
            </a:r>
            <a:endParaRPr/>
          </a:p>
        </p:txBody>
      </p:sp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for execution</a:t>
            </a:r>
            <a:endParaRPr/>
          </a:p>
        </p:txBody>
      </p:sp>
      <p:sp>
        <p:nvSpPr>
          <p:cNvPr id="182" name="Google Shape;182;p2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Sprint or milestone planning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Effort estimation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Resource allocation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Delivery roadmap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Delivery plan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Release roadmap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/ Implementation</a:t>
            </a:r>
            <a:endParaRPr/>
          </a:p>
        </p:txBody>
      </p:sp>
      <p:sp>
        <p:nvSpPr>
          <p:cNvPr id="188" name="Google Shape;188;p2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It!</a:t>
            </a:r>
            <a:endParaRPr/>
          </a:p>
        </p:txBody>
      </p:sp>
      <p:sp>
        <p:nvSpPr>
          <p:cNvPr id="189" name="Google Shape;189;p2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Frontend development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Backend development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API development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Configuration and feature toggles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Secure coding practices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Deployment scripts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Working software increments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Source code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Integration</a:t>
            </a:r>
            <a:endParaRPr/>
          </a:p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Engineering and Quality Efforts</a:t>
            </a:r>
            <a:endParaRPr/>
          </a:p>
        </p:txBody>
      </p:sp>
      <p:sp>
        <p:nvSpPr>
          <p:cNvPr id="196" name="Google Shape;196;p2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Automated builds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Code reviews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Static code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Dependency scanning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CI/CD Configuration/Scripts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 artifacts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Quality reports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Quality Assurance</a:t>
            </a:r>
            <a:endParaRPr/>
          </a:p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 functionality and quality</a:t>
            </a:r>
            <a:endParaRPr/>
          </a:p>
        </p:txBody>
      </p:sp>
      <p:sp>
        <p:nvSpPr>
          <p:cNvPr id="203" name="Google Shape;203;p3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Unit testing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Integration testing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System testing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 acceptance testing (UAT)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&amp; security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Testing plans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 results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Defect logs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UAT sign-off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Regression Plans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 Preparation</a:t>
            </a:r>
            <a:endParaRPr/>
          </a:p>
        </p:txBody>
      </p:sp>
      <p:sp>
        <p:nvSpPr>
          <p:cNvPr id="209" name="Google Shape;209;p3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ready to deploy</a:t>
            </a:r>
            <a:endParaRPr/>
          </a:p>
        </p:txBody>
      </p:sp>
      <p:sp>
        <p:nvSpPr>
          <p:cNvPr id="210" name="Google Shape;210;p3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Release notes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Deployment scripts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Rollback planning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Change management approvals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Release package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Deployment plan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216" name="Google Shape;216;p3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 to target environments</a:t>
            </a:r>
            <a:endParaRPr/>
          </a:p>
        </p:txBody>
      </p:sp>
      <p:sp>
        <p:nvSpPr>
          <p:cNvPr id="217" name="Google Shape;217;p3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Environment provisioning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Production deployment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Smoke testing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Feature enablement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Configuration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Live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Deployment confirmation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Titles/Roles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729450" y="2078875"/>
            <a:ext cx="5403600" cy="26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Core Engineering</a:t>
            </a:r>
            <a:br>
              <a:rPr lang="en"/>
            </a:br>
            <a:r>
              <a:rPr lang="en"/>
              <a:t>Software Developer, Software Engineer, Software Development Engineer (SDE), Programmer.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Specialized Engineering</a:t>
            </a:r>
            <a:br>
              <a:rPr lang="en"/>
            </a:br>
            <a:r>
              <a:rPr lang="en"/>
              <a:t>Frontend/Backend/Full-Stack Developer, DevOps Engineer, Mobile Engineer, Embedded/Firmware Engineer, Data Engineer, Site Reliability Engineer (SRE), Software Engineer in Test (SDET).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Professional Services</a:t>
            </a:r>
            <a:br>
              <a:rPr lang="en"/>
            </a:br>
            <a:r>
              <a:rPr lang="en"/>
              <a:t>Solution Engineer, Integration Engineer, Client Solutions Specialist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224" name="Google Shape;224;p33" title="vecteezy_software-engineer-png-graphic-clipart-design_2096298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5450" y="2006250"/>
            <a:ext cx="2706150" cy="2090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Post-Release Validation</a:t>
            </a:r>
            <a:endParaRPr/>
          </a:p>
        </p:txBody>
      </p:sp>
      <p:sp>
        <p:nvSpPr>
          <p:cNvPr id="230" name="Google Shape;230;p3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stability after launch</a:t>
            </a:r>
            <a:endParaRPr/>
          </a:p>
        </p:txBody>
      </p:sp>
      <p:sp>
        <p:nvSpPr>
          <p:cNvPr id="231" name="Google Shape;231;p3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Production monitoring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Incident triage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 feedback review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Hotfixes if needed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Stabilized release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metrics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&amp; Maintenance</a:t>
            </a:r>
            <a:endParaRPr/>
          </a:p>
        </p:txBody>
      </p:sp>
      <p:sp>
        <p:nvSpPr>
          <p:cNvPr id="237" name="Google Shape;237;p3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system running effectively</a:t>
            </a:r>
            <a:endParaRPr/>
          </a:p>
        </p:txBody>
      </p:sp>
      <p:sp>
        <p:nvSpPr>
          <p:cNvPr id="238" name="Google Shape;238;p3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Monitoring &amp; alerting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tuning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Security patching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Incident &amp; problem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Operational dashboards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SLA reports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Cost &amp; Utilization Reports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Support</a:t>
            </a:r>
            <a:endParaRPr/>
          </a:p>
        </p:txBody>
      </p:sp>
      <p:sp>
        <p:nvSpPr>
          <p:cNvPr id="244" name="Google Shape;244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the user is happy!</a:t>
            </a:r>
            <a:endParaRPr/>
          </a:p>
        </p:txBody>
      </p:sp>
      <p:sp>
        <p:nvSpPr>
          <p:cNvPr id="245" name="Google Shape;245;p3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Monitoring Support Channels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Bug Triage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Bug Reports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Root Cause Analyses (RCA) are often generated by either SRE or Software Engineers.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06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