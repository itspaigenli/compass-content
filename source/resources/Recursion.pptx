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ato-regular.fntdata"/><Relationship Id="rId14" Type="http://schemas.openxmlformats.org/officeDocument/2006/relationships/slide" Target="slides/slide10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La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d32ac16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d32ac16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32ac16c7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32ac16c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d32ac16c7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d32ac16c7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d32ac16c7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d32ac16c7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d32ac16c7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d32ac16c7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32ac16c7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32ac16c7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581075e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581075e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572874e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572874e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581075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581075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en.wikipedia.org/wiki/Computer_science" TargetMode="External"/><Relationship Id="rId5" Type="http://schemas.openxmlformats.org/officeDocument/2006/relationships/hyperlink" Target="https://en.wikipedia.org/wiki/Iteration#Computing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en.wikipedia.org/wiki/Tower_of_Hanoi" TargetMode="External"/><Relationship Id="rId5" Type="http://schemas.openxmlformats.org/officeDocument/2006/relationships/hyperlink" Target="https://www.nczonline.net/blog/2012/11/27/computer-science-in-javascript-quicksort/" TargetMode="External"/><Relationship Id="rId6" Type="http://schemas.openxmlformats.org/officeDocument/2006/relationships/hyperlink" Target="https://codepen.io/kennymkchan/pen/ygWWmK" TargetMode="External"/><Relationship Id="rId7" Type="http://schemas.openxmlformats.org/officeDocument/2006/relationships/hyperlink" Target="http://eightqueen.becher-sundstroem.de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hyperlink" Target="https://www.codecademy.com/courses/javascript-lesson-205/0/1" TargetMode="External"/><Relationship Id="rId5" Type="http://schemas.openxmlformats.org/officeDocument/2006/relationships/hyperlink" Target="https://www.thecodingdelight.com/understanding-recursion-javascript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s://www.codecademy.com/learn/learn-javascript" TargetMode="External"/><Relationship Id="rId10" Type="http://schemas.openxmlformats.org/officeDocument/2006/relationships/hyperlink" Target="https://bonsaiden.github.io/JavaScript-Garden/" TargetMode="External"/><Relationship Id="rId9" Type="http://schemas.openxmlformats.org/officeDocument/2006/relationships/hyperlink" Target="https://www.amazon.com/JavaScript-Good-Parts-Douglas-Crockford/dp/0596517742" TargetMode="External"/><Relationship Id="rId5" Type="http://schemas.openxmlformats.org/officeDocument/2006/relationships/hyperlink" Target="https://www.khanacademy.org/computing/computer-programming/programming" TargetMode="External"/><Relationship Id="rId6" Type="http://schemas.openxmlformats.org/officeDocument/2006/relationships/hyperlink" Target="https://www.w3schools.com/js/" TargetMode="External"/><Relationship Id="rId7" Type="http://schemas.openxmlformats.org/officeDocument/2006/relationships/hyperlink" Target="http://jsforcats.com/" TargetMode="External"/><Relationship Id="rId8" Type="http://schemas.openxmlformats.org/officeDocument/2006/relationships/hyperlink" Target="http://eloquentjavascript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83700" y="1515775"/>
            <a:ext cx="7776600" cy="160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					Recursion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6666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What is Recursion?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/>
        </p:nvSpPr>
        <p:spPr>
          <a:xfrm>
            <a:off x="477925" y="1125250"/>
            <a:ext cx="82107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Recursion is a computer science technique used to solve a repetition-type problem.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Recursion in </a:t>
            </a:r>
            <a:r>
              <a:rPr lang="en" sz="2400" u="sng">
                <a:solidFill>
                  <a:srgbClr val="0B0080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computer science</a:t>
            </a: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 is a method where the solution to a problem depends on solutions to smaller instances of the same problem (as opposed to </a:t>
            </a:r>
            <a:r>
              <a:rPr lang="en" sz="2400" u="sng">
                <a:solidFill>
                  <a:srgbClr val="0B0080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iteration</a:t>
            </a:r>
            <a:r>
              <a:rPr lang="en" sz="2400">
                <a:solidFill>
                  <a:srgbClr val="222222"/>
                </a:solidFill>
                <a:highlight>
                  <a:srgbClr val="FFFFFF"/>
                </a:highlight>
                <a:latin typeface="Lato"/>
                <a:ea typeface="Lato"/>
                <a:cs typeface="Lato"/>
                <a:sym typeface="Lato"/>
              </a:rPr>
              <a:t>)”.</a:t>
            </a:r>
            <a:endParaRPr sz="240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Why Recursion?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477925" y="1125250"/>
            <a:ext cx="82107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Recursion often offers a simpler and cleaner-looking solution at the expense of memory </a:t>
            </a:r>
            <a:r>
              <a:rPr lang="en" sz="2400">
                <a:latin typeface="Lato"/>
                <a:ea typeface="Lato"/>
                <a:cs typeface="Lato"/>
                <a:sym typeface="Lato"/>
              </a:rPr>
              <a:t>consumption.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We can use recursion to solve problems that we do not know the exact number of repetitions (which cannot be done with a “for loop” but can be done with a “while loop”).   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Two ways of solving the same problem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477925" y="1125250"/>
            <a:ext cx="82107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Example: write a function thats add up integers from 1 to N, where N is 1 or larger. 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7013" y="1829725"/>
            <a:ext cx="4981575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388" y="1829713"/>
            <a:ext cx="3762375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151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What is going on !? 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466650" y="724425"/>
            <a:ext cx="82107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Recursive problem-solving asks the computer to divide a problem into smaller version(s) of the same and combine the results </a:t>
            </a:r>
            <a:r>
              <a:rPr lang="en" sz="1600">
                <a:latin typeface="Lato"/>
                <a:ea typeface="Lato"/>
                <a:cs typeface="Lato"/>
                <a:sym typeface="Lato"/>
              </a:rPr>
              <a:t>    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3300" y="1775025"/>
            <a:ext cx="4981575" cy="2483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 txBox="1"/>
          <p:nvPr/>
        </p:nvSpPr>
        <p:spPr>
          <a:xfrm>
            <a:off x="5119875" y="1301925"/>
            <a:ext cx="3637500" cy="33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RecursiveAddUpToN(1) = 1     // base case.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RecursiveAddUpToN(2) 	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= RecursiveAddUpToN(1) + 2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= 1 + 2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= 3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RecursiveAddUpToN(3) 	 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= RecursiveAddUpToN(2) + 3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= ( RecursiveAddUpToN(1) + 2 ) + 3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= (1 + 2) + 3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= 6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Recursion Gotcha!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/>
        </p:nvSpPr>
        <p:spPr>
          <a:xfrm>
            <a:off x="477925" y="1125250"/>
            <a:ext cx="82107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Recursive algorithm must have a “base case” and a “recursive case”.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Base case stops the recursion.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○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The recursive case describes how to break the problem down into a small version of the same problem (“divide-and-conquer”).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Lato"/>
                <a:ea typeface="Lato"/>
                <a:cs typeface="Lato"/>
                <a:sym typeface="Lato"/>
              </a:rPr>
              <a:t>You must have both to avoid “infinite recursion”, where the recursion does not stop and the computer eventually runs out of memory (this is called a “stack overflow”).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Famous Recursive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Algorithms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/>
        </p:nvSpPr>
        <p:spPr>
          <a:xfrm>
            <a:off x="477925" y="1125250"/>
            <a:ext cx="82107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Towers of Hanoi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Quick sort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>
                <a:latin typeface="Lato"/>
                <a:ea typeface="Lato"/>
                <a:cs typeface="Lato"/>
                <a:sym typeface="Lato"/>
              </a:rPr>
              <a:t>Tree Traversal, such as </a:t>
            </a: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Binary Search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7"/>
              </a:rPr>
              <a:t>N-queens (chess problem)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Recursion Resources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477925" y="1125250"/>
            <a:ext cx="82107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Codecademy course</a:t>
            </a:r>
            <a:endParaRPr sz="2400">
              <a:latin typeface="Lato"/>
              <a:ea typeface="Lato"/>
              <a:cs typeface="Lato"/>
              <a:sym typeface="La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</a:pPr>
            <a:r>
              <a:rPr lang="en" sz="24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Understand Recursion in Javascript in depth</a:t>
            </a:r>
            <a:endParaRPr sz="24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1"/>
          <p:cNvSpPr txBox="1"/>
          <p:nvPr/>
        </p:nvSpPr>
        <p:spPr>
          <a:xfrm>
            <a:off x="1569450" y="1787375"/>
            <a:ext cx="60051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 b="1" sz="2800">
              <a:solidFill>
                <a:schemeClr val="accent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284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More JavaScript Resources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250" y="4649125"/>
            <a:ext cx="2137750" cy="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2"/>
          <p:cNvSpPr txBox="1"/>
          <p:nvPr/>
        </p:nvSpPr>
        <p:spPr>
          <a:xfrm>
            <a:off x="456500" y="857375"/>
            <a:ext cx="7545600" cy="31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Codecademy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has a JS course.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Khan Academy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has a JS course.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W3schools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has </a:t>
            </a:r>
            <a:r>
              <a:rPr b="1" lang="en" sz="1800">
                <a:latin typeface="Lato"/>
                <a:ea typeface="Lato"/>
                <a:cs typeface="Lato"/>
                <a:sym typeface="Lato"/>
              </a:rPr>
              <a:t>tons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of info.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7"/>
              </a:rPr>
              <a:t>JavaScript for Cats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for foundational concepts (and cats).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8"/>
              </a:rPr>
              <a:t>Eloquent JavaScript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is a free online book.</a:t>
            </a: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br>
              <a:rPr lang="en" sz="1800">
                <a:latin typeface="Lato"/>
                <a:ea typeface="Lato"/>
                <a:cs typeface="Lato"/>
                <a:sym typeface="Lato"/>
              </a:rPr>
            </a:br>
            <a:r>
              <a:rPr lang="en" sz="1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9"/>
              </a:rPr>
              <a:t>JavaScript: The Good Parts</a:t>
            </a:r>
            <a:r>
              <a:rPr lang="en" sz="1800">
                <a:latin typeface="Lato"/>
                <a:ea typeface="Lato"/>
                <a:cs typeface="Lato"/>
                <a:sym typeface="Lato"/>
              </a:rPr>
              <a:t> is one of the most famous JS books.</a:t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 u="sng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JavaScript Garden</a:t>
            </a:r>
            <a:r>
              <a:rPr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has more advanced topics.</a:t>
            </a:r>
            <a:endParaRPr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110175" y="4693175"/>
            <a:ext cx="6577200" cy="311700"/>
          </a:xfrm>
          <a:prstGeom prst="rect">
            <a:avLst/>
          </a:prstGeom>
          <a:solidFill>
            <a:srgbClr val="0093B5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